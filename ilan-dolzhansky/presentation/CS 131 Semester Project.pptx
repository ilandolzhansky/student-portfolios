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164f7a66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164f7a66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201937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201937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164f7a6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e164f7a6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164f7a66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e164f7a66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9f406660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9f406660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e2d8e417e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e2d8e417e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164f7a66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164f7a66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164f7a66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e164f7a66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gif"/><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hyperlink" Target="https://www.quytech.com/blog/top-use-cases-of-ai-agent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https://www.linkedin.com/pulse/ai-agents-gone-wild-securing-new-frontier-autonomous-mischief-thakre-k7qcc" TargetMode="External"/><Relationship Id="rId6" Type="http://schemas.openxmlformats.org/officeDocument/2006/relationships/image" Target="../media/image14.jpg"/><Relationship Id="rId7" Type="http://schemas.openxmlformats.org/officeDocument/2006/relationships/hyperlink" Target="https://moithub.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hyperlink" Target="https://dev.arcxp.com/blog/exploring-ai-agent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hyperlink" Target="https://www.understandingai.org/p/16-charts-that-explain-the-ai-boom" TargetMode="External"/><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1" Type="http://schemas.openxmlformats.org/officeDocument/2006/relationships/hyperlink" Target="https://www.understandingai.org/p/16-charts-that-explain-the-ai-boom" TargetMode="External"/><Relationship Id="rId10" Type="http://schemas.openxmlformats.org/officeDocument/2006/relationships/hyperlink" Target="https://www.lindy.ai/blog/best-ai-agents" TargetMode="External"/><Relationship Id="rId13" Type="http://schemas.openxmlformats.org/officeDocument/2006/relationships/hyperlink" Target="https://moithub.com/" TargetMode="External"/><Relationship Id="rId12" Type="http://schemas.openxmlformats.org/officeDocument/2006/relationships/hyperlink" Target="https://www.quytech.com/blog/top-use-cases-of-ai-agents/" TargetMode="External"/><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en.wikipedia.org/wiki/AI_agent" TargetMode="External"/><Relationship Id="rId9" Type="http://schemas.openxmlformats.org/officeDocument/2006/relationships/hyperlink" Target="https://www.microsoft.com/en-us/microsoft-copilot/copilot-101/ai-agents-types-and-uses" TargetMode="External"/><Relationship Id="rId15" Type="http://schemas.openxmlformats.org/officeDocument/2006/relationships/hyperlink" Target="https://dev.arcxp.com/blog/exploring-ai-agents/" TargetMode="External"/><Relationship Id="rId14" Type="http://schemas.openxmlformats.org/officeDocument/2006/relationships/hyperlink" Target="https://www.linkedin.com/pulse/ai-agents-gone-wild-securing-new-frontier-autonomous-mischief-thakre-k7qcc" TargetMode="External"/><Relationship Id="rId17" Type="http://schemas.openxmlformats.org/officeDocument/2006/relationships/hyperlink" Target="https://www.youtube.com/watch?v=K27diMbCsuw" TargetMode="External"/><Relationship Id="rId16" Type="http://schemas.openxmlformats.org/officeDocument/2006/relationships/hyperlink" Target="https://www.youtube.com/watch?v=AJpK3YTTKZ4" TargetMode="External"/><Relationship Id="rId5" Type="http://schemas.openxmlformats.org/officeDocument/2006/relationships/hyperlink" Target="https://www.ibm.com/think/topics/ai-agents" TargetMode="External"/><Relationship Id="rId6" Type="http://schemas.openxmlformats.org/officeDocument/2006/relationships/hyperlink" Target="https://cloud.google.com/discover/what-are-ai-agents" TargetMode="External"/><Relationship Id="rId7" Type="http://schemas.openxmlformats.org/officeDocument/2006/relationships/hyperlink" Target="https://aws.amazon.com/what-is/ai-agents/" TargetMode="External"/><Relationship Id="rId8" Type="http://schemas.openxmlformats.org/officeDocument/2006/relationships/hyperlink" Target="https://www.bcg.com/capabilities/artificial-intelligence/ai-agent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pic>
        <p:nvPicPr>
          <p:cNvPr id="54" name="Google Shape;54;p13" title="61jAzr3NbdL._AC_UF894_1000_QL80_-removebg-preview.png"/>
          <p:cNvPicPr preferRelativeResize="0"/>
          <p:nvPr/>
        </p:nvPicPr>
        <p:blipFill>
          <a:blip r:embed="rId3">
            <a:alphaModFix/>
          </a:blip>
          <a:stretch>
            <a:fillRect/>
          </a:stretch>
        </p:blipFill>
        <p:spPr>
          <a:xfrm>
            <a:off x="778282" y="0"/>
            <a:ext cx="9144000" cy="5143500"/>
          </a:xfrm>
          <a:prstGeom prst="rect">
            <a:avLst/>
          </a:prstGeom>
          <a:noFill/>
          <a:ln>
            <a:noFill/>
          </a:ln>
        </p:spPr>
      </p:pic>
      <p:sp>
        <p:nvSpPr>
          <p:cNvPr id="55" name="Google Shape;55;p13"/>
          <p:cNvSpPr txBox="1"/>
          <p:nvPr>
            <p:ph type="ctrTitle"/>
          </p:nvPr>
        </p:nvSpPr>
        <p:spPr>
          <a:xfrm>
            <a:off x="338783" y="20538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highlight>
                  <a:schemeClr val="dk1"/>
                </a:highlight>
              </a:rPr>
              <a:t>AI Agents</a:t>
            </a:r>
            <a:endParaRPr>
              <a:solidFill>
                <a:schemeClr val="lt1"/>
              </a:solidFill>
              <a:highlight>
                <a:schemeClr val="dk1"/>
              </a:highlight>
            </a:endParaRPr>
          </a:p>
        </p:txBody>
      </p:sp>
      <p:sp>
        <p:nvSpPr>
          <p:cNvPr id="56" name="Google Shape;56;p13"/>
          <p:cNvSpPr txBox="1"/>
          <p:nvPr>
            <p:ph idx="1" type="subTitle"/>
          </p:nvPr>
        </p:nvSpPr>
        <p:spPr>
          <a:xfrm>
            <a:off x="338775" y="41064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highlight>
                  <a:schemeClr val="dk1"/>
                </a:highlight>
              </a:rPr>
              <a:t>By: Ilan Dolzhansky</a:t>
            </a:r>
            <a:endParaRPr>
              <a:solidFill>
                <a:schemeClr val="lt1"/>
              </a:solidFill>
              <a:highlight>
                <a:schemeClr val="dk1"/>
              </a:highlight>
            </a:endParaRPr>
          </a:p>
        </p:txBody>
      </p:sp>
    </p:spTree>
  </p:cSld>
  <p:clrMapOvr>
    <a:masterClrMapping/>
  </p:clrMapOvr>
  <mc:AlternateContent>
    <mc:Choice Requires="p14">
      <p:transition spd="slow" p14:dur="5000">
        <p14:prism dir="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ph type="ctrTitle"/>
          </p:nvPr>
        </p:nvSpPr>
        <p:spPr>
          <a:xfrm>
            <a:off x="-600949" y="56825"/>
            <a:ext cx="7328400" cy="994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highlight>
                  <a:schemeClr val="dk1"/>
                </a:highlight>
              </a:rPr>
              <a:t>What is an AI agent</a:t>
            </a:r>
            <a:endParaRPr>
              <a:solidFill>
                <a:schemeClr val="lt1"/>
              </a:solidFill>
              <a:highlight>
                <a:schemeClr val="dk1"/>
              </a:highlight>
            </a:endParaRPr>
          </a:p>
        </p:txBody>
      </p:sp>
      <p:sp>
        <p:nvSpPr>
          <p:cNvPr id="62" name="Google Shape;6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highlight>
                  <a:schemeClr val="dk1"/>
                </a:highlight>
              </a:rPr>
              <a:t>An AI agent is a software system that can autonomously perform tasks, make decisions, and work toward specific goals. Unlike a chatbot, an AI agent can reason, plan, use tools, and take actions with minimal human input.</a:t>
            </a:r>
            <a:endParaRPr sz="1800">
              <a:solidFill>
                <a:schemeClr val="lt1"/>
              </a:solidFill>
              <a:highlight>
                <a:schemeClr val="dk1"/>
              </a:highlight>
            </a:endParaRPr>
          </a:p>
        </p:txBody>
      </p:sp>
      <p:pic>
        <p:nvPicPr>
          <p:cNvPr id="63" name="Google Shape;63;p14"/>
          <p:cNvPicPr preferRelativeResize="0"/>
          <p:nvPr/>
        </p:nvPicPr>
        <p:blipFill>
          <a:blip r:embed="rId4">
            <a:alphaModFix/>
          </a:blip>
          <a:stretch>
            <a:fillRect/>
          </a:stretch>
        </p:blipFill>
        <p:spPr>
          <a:xfrm>
            <a:off x="6995426" y="202975"/>
            <a:ext cx="1988386" cy="2529326"/>
          </a:xfrm>
          <a:prstGeom prst="rect">
            <a:avLst/>
          </a:prstGeom>
          <a:noFill/>
          <a:ln>
            <a:noFill/>
          </a:ln>
        </p:spPr>
      </p:pic>
    </p:spTree>
  </p:cSld>
  <p:clrMapOvr>
    <a:masterClrMapping/>
  </p:clrMapOvr>
  <mc:AlternateContent>
    <mc:Choice Requires="p14">
      <p:transition spd="slow" p14:dur="5000">
        <p14:prism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Google Shape;68;p15"/>
          <p:cNvSpPr txBox="1"/>
          <p:nvPr>
            <p:ph type="ctrTitle"/>
          </p:nvPr>
        </p:nvSpPr>
        <p:spPr>
          <a:xfrm>
            <a:off x="284633" y="4468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Top agents</a:t>
            </a:r>
            <a:endParaRPr/>
          </a:p>
        </p:txBody>
      </p:sp>
      <p:sp>
        <p:nvSpPr>
          <p:cNvPr id="69" name="Google Shape;69;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70" name="Google Shape;70;p15" title="Agency.jpg"/>
          <p:cNvPicPr preferRelativeResize="0"/>
          <p:nvPr/>
        </p:nvPicPr>
        <p:blipFill rotWithShape="1">
          <a:blip r:embed="rId3">
            <a:alphaModFix/>
          </a:blip>
          <a:srcRect b="0" l="0" r="0" t="0"/>
          <a:stretch/>
        </p:blipFill>
        <p:spPr>
          <a:xfrm>
            <a:off x="-397925" y="-715450"/>
            <a:ext cx="9576375" cy="7043275"/>
          </a:xfrm>
          <a:prstGeom prst="rect">
            <a:avLst/>
          </a:prstGeom>
          <a:noFill/>
          <a:ln>
            <a:noFill/>
          </a:ln>
        </p:spPr>
      </p:pic>
      <p:sp>
        <p:nvSpPr>
          <p:cNvPr id="71" name="Google Shape;71;p15"/>
          <p:cNvSpPr txBox="1"/>
          <p:nvPr/>
        </p:nvSpPr>
        <p:spPr>
          <a:xfrm>
            <a:off x="-140750" y="75775"/>
            <a:ext cx="50757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900">
                <a:solidFill>
                  <a:schemeClr val="lt1"/>
                </a:solidFill>
              </a:rPr>
              <a:t>Most Popular AI Agents</a:t>
            </a:r>
            <a:endParaRPr b="1" sz="2900">
              <a:solidFill>
                <a:schemeClr val="lt1"/>
              </a:solidFill>
            </a:endParaRPr>
          </a:p>
        </p:txBody>
      </p:sp>
      <p:sp>
        <p:nvSpPr>
          <p:cNvPr id="72" name="Google Shape;72;p15"/>
          <p:cNvSpPr txBox="1"/>
          <p:nvPr/>
        </p:nvSpPr>
        <p:spPr>
          <a:xfrm>
            <a:off x="-397925" y="1036800"/>
            <a:ext cx="3898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rPr>
              <a:t>General Purpose:</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OpenAI Operator</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Claude Cowork</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Manus</a:t>
            </a:r>
            <a:endParaRPr sz="1800">
              <a:solidFill>
                <a:schemeClr val="lt1"/>
              </a:solidFill>
            </a:endParaRPr>
          </a:p>
          <a:p>
            <a:pPr indent="0" lvl="0" marL="0" rtl="0" algn="l">
              <a:spcBef>
                <a:spcPts val="0"/>
              </a:spcBef>
              <a:spcAft>
                <a:spcPts val="0"/>
              </a:spcAft>
              <a:buNone/>
            </a:pPr>
            <a:r>
              <a:t/>
            </a:r>
            <a:endParaRPr sz="1800">
              <a:solidFill>
                <a:schemeClr val="lt1"/>
              </a:solidFill>
            </a:endParaRPr>
          </a:p>
        </p:txBody>
      </p:sp>
      <p:sp>
        <p:nvSpPr>
          <p:cNvPr id="73" name="Google Shape;73;p15"/>
          <p:cNvSpPr txBox="1"/>
          <p:nvPr/>
        </p:nvSpPr>
        <p:spPr>
          <a:xfrm>
            <a:off x="6975675" y="1036800"/>
            <a:ext cx="3898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rPr>
              <a:t>Coding</a:t>
            </a:r>
            <a:r>
              <a:rPr lang="en" sz="1800">
                <a:solidFill>
                  <a:schemeClr val="lt1"/>
                </a:solidFill>
              </a:rPr>
              <a:t>:</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Claude Code</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Devin AI</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Aider</a:t>
            </a:r>
            <a:endParaRPr sz="1800">
              <a:solidFill>
                <a:schemeClr val="lt1"/>
              </a:solidFill>
            </a:endParaRPr>
          </a:p>
          <a:p>
            <a:pPr indent="0" lvl="0" marL="0" rtl="0" algn="l">
              <a:spcBef>
                <a:spcPts val="0"/>
              </a:spcBef>
              <a:spcAft>
                <a:spcPts val="0"/>
              </a:spcAft>
              <a:buNone/>
            </a:pPr>
            <a:r>
              <a:t/>
            </a:r>
            <a:endParaRPr sz="1800">
              <a:solidFill>
                <a:schemeClr val="lt1"/>
              </a:solidFill>
            </a:endParaRPr>
          </a:p>
        </p:txBody>
      </p:sp>
      <p:pic>
        <p:nvPicPr>
          <p:cNvPr id="74" name="Google Shape;74;p15"/>
          <p:cNvPicPr preferRelativeResize="0"/>
          <p:nvPr/>
        </p:nvPicPr>
        <p:blipFill>
          <a:blip r:embed="rId4">
            <a:alphaModFix/>
          </a:blip>
          <a:stretch>
            <a:fillRect/>
          </a:stretch>
        </p:blipFill>
        <p:spPr>
          <a:xfrm>
            <a:off x="7100904" y="3170175"/>
            <a:ext cx="1848150" cy="23093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highlight>
                  <a:schemeClr val="dk1"/>
                </a:highlight>
              </a:rPr>
              <a:t>Uses for AI agents</a:t>
            </a:r>
            <a:endParaRPr>
              <a:solidFill>
                <a:schemeClr val="lt1"/>
              </a:solidFill>
              <a:highlight>
                <a:schemeClr val="dk1"/>
              </a:highlight>
            </a:endParaRPr>
          </a:p>
        </p:txBody>
      </p:sp>
      <p:sp>
        <p:nvSpPr>
          <p:cNvPr id="80" name="Google Shape;80;p16"/>
          <p:cNvSpPr txBox="1"/>
          <p:nvPr>
            <p:ph idx="1" type="body"/>
          </p:nvPr>
        </p:nvSpPr>
        <p:spPr>
          <a:xfrm>
            <a:off x="-92850" y="8635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highlight>
                  <a:schemeClr val="dk1"/>
                </a:highlight>
              </a:rPr>
              <a:t>AI agents can be used to automate many tasks such as:</a:t>
            </a:r>
            <a:endParaRPr>
              <a:solidFill>
                <a:schemeClr val="lt1"/>
              </a:solidFill>
              <a:highlight>
                <a:schemeClr val="dk1"/>
              </a:highlight>
            </a:endParaRPr>
          </a:p>
          <a:p>
            <a:pPr indent="-298450" lvl="0" marL="457200" rtl="0" algn="l">
              <a:spcBef>
                <a:spcPts val="1200"/>
              </a:spcBef>
              <a:spcAft>
                <a:spcPts val="0"/>
              </a:spcAft>
              <a:buClr>
                <a:schemeClr val="dk1"/>
              </a:buClr>
              <a:buSzPts val="1100"/>
              <a:buChar char="●"/>
            </a:pPr>
            <a:r>
              <a:rPr lang="en">
                <a:solidFill>
                  <a:schemeClr val="lt1"/>
                </a:solidFill>
                <a:highlight>
                  <a:schemeClr val="dk1"/>
                </a:highlight>
              </a:rPr>
              <a:t>Customer support</a:t>
            </a:r>
            <a:endParaRPr>
              <a:solidFill>
                <a:schemeClr val="lt1"/>
              </a:solidFill>
              <a:highlight>
                <a:schemeClr val="dk1"/>
              </a:highlight>
            </a:endParaRPr>
          </a:p>
          <a:p>
            <a:pPr indent="-298450" lvl="0" marL="457200" rtl="0" algn="l">
              <a:spcBef>
                <a:spcPts val="0"/>
              </a:spcBef>
              <a:spcAft>
                <a:spcPts val="0"/>
              </a:spcAft>
              <a:buClr>
                <a:schemeClr val="dk1"/>
              </a:buClr>
              <a:buSzPts val="1100"/>
              <a:buChar char="●"/>
            </a:pPr>
            <a:r>
              <a:rPr lang="en">
                <a:solidFill>
                  <a:schemeClr val="lt1"/>
                </a:solidFill>
                <a:highlight>
                  <a:schemeClr val="dk1"/>
                </a:highlight>
              </a:rPr>
              <a:t>Research</a:t>
            </a:r>
            <a:endParaRPr>
              <a:solidFill>
                <a:schemeClr val="lt1"/>
              </a:solidFill>
              <a:highlight>
                <a:schemeClr val="dk1"/>
              </a:highlight>
            </a:endParaRPr>
          </a:p>
          <a:p>
            <a:pPr indent="-298450" lvl="0" marL="457200" rtl="0" algn="l">
              <a:spcBef>
                <a:spcPts val="0"/>
              </a:spcBef>
              <a:spcAft>
                <a:spcPts val="0"/>
              </a:spcAft>
              <a:buClr>
                <a:schemeClr val="dk1"/>
              </a:buClr>
              <a:buSzPts val="1100"/>
              <a:buChar char="●"/>
            </a:pPr>
            <a:r>
              <a:rPr lang="en">
                <a:solidFill>
                  <a:schemeClr val="lt1"/>
                </a:solidFill>
                <a:highlight>
                  <a:schemeClr val="dk1"/>
                </a:highlight>
              </a:rPr>
              <a:t>Workflow management</a:t>
            </a:r>
            <a:endParaRPr>
              <a:solidFill>
                <a:schemeClr val="lt1"/>
              </a:solidFill>
              <a:highlight>
                <a:schemeClr val="dk1"/>
              </a:highlight>
            </a:endParaRPr>
          </a:p>
          <a:p>
            <a:pPr indent="-298450" lvl="0" marL="457200" rtl="0" algn="l">
              <a:spcBef>
                <a:spcPts val="0"/>
              </a:spcBef>
              <a:spcAft>
                <a:spcPts val="0"/>
              </a:spcAft>
              <a:buClr>
                <a:schemeClr val="dk1"/>
              </a:buClr>
              <a:buSzPts val="1100"/>
              <a:buChar char="●"/>
            </a:pPr>
            <a:r>
              <a:rPr lang="en">
                <a:solidFill>
                  <a:schemeClr val="lt1"/>
                </a:solidFill>
                <a:highlight>
                  <a:schemeClr val="dk1"/>
                </a:highlight>
              </a:rPr>
              <a:t>Data analysis</a:t>
            </a:r>
            <a:endParaRPr>
              <a:solidFill>
                <a:schemeClr val="lt1"/>
              </a:solidFill>
              <a:highlight>
                <a:schemeClr val="dk1"/>
              </a:highlight>
            </a:endParaRPr>
          </a:p>
          <a:p>
            <a:pPr indent="-298450" lvl="0" marL="457200" rtl="0" algn="l">
              <a:spcBef>
                <a:spcPts val="0"/>
              </a:spcBef>
              <a:spcAft>
                <a:spcPts val="0"/>
              </a:spcAft>
              <a:buClr>
                <a:schemeClr val="dk1"/>
              </a:buClr>
              <a:buSzPts val="1100"/>
              <a:buChar char="●"/>
            </a:pPr>
            <a:r>
              <a:rPr lang="en">
                <a:solidFill>
                  <a:schemeClr val="lt1"/>
                </a:solidFill>
                <a:highlight>
                  <a:schemeClr val="dk1"/>
                </a:highlight>
              </a:rPr>
              <a:t>Software development assistance</a:t>
            </a:r>
            <a:endParaRPr>
              <a:solidFill>
                <a:schemeClr val="lt1"/>
              </a:solidFill>
              <a:highlight>
                <a:schemeClr val="dk1"/>
              </a:highlight>
            </a:endParaRPr>
          </a:p>
          <a:p>
            <a:pPr indent="-298450" lvl="0" marL="457200" rtl="0" algn="l">
              <a:spcBef>
                <a:spcPts val="0"/>
              </a:spcBef>
              <a:spcAft>
                <a:spcPts val="0"/>
              </a:spcAft>
              <a:buClr>
                <a:schemeClr val="dk1"/>
              </a:buClr>
              <a:buSzPts val="1100"/>
              <a:buChar char="●"/>
            </a:pPr>
            <a:r>
              <a:rPr lang="en">
                <a:solidFill>
                  <a:schemeClr val="lt1"/>
                </a:solidFill>
                <a:highlight>
                  <a:schemeClr val="dk1"/>
                </a:highlight>
              </a:rPr>
              <a:t>Scheduling and task management</a:t>
            </a:r>
            <a:endParaRPr>
              <a:solidFill>
                <a:schemeClr val="lt1"/>
              </a:solidFill>
              <a:highlight>
                <a:schemeClr val="dk1"/>
              </a:highlight>
            </a:endParaRPr>
          </a:p>
          <a:p>
            <a:pPr indent="-298450" lvl="0" marL="457200" rtl="0" algn="l">
              <a:spcBef>
                <a:spcPts val="0"/>
              </a:spcBef>
              <a:spcAft>
                <a:spcPts val="0"/>
              </a:spcAft>
              <a:buClr>
                <a:schemeClr val="dk1"/>
              </a:buClr>
              <a:buSzPts val="1100"/>
              <a:buChar char="●"/>
            </a:pPr>
            <a:r>
              <a:rPr lang="en">
                <a:solidFill>
                  <a:schemeClr val="lt1"/>
                </a:solidFill>
                <a:highlight>
                  <a:schemeClr val="dk1"/>
                </a:highlight>
              </a:rPr>
              <a:t>Sales and marketing support</a:t>
            </a:r>
            <a:endParaRPr>
              <a:solidFill>
                <a:schemeClr val="lt1"/>
              </a:solidFill>
              <a:highlight>
                <a:schemeClr val="dk1"/>
              </a:highlight>
            </a:endParaRPr>
          </a:p>
          <a:p>
            <a:pPr indent="0" lvl="0" marL="0" rtl="0" algn="l">
              <a:spcBef>
                <a:spcPts val="1200"/>
              </a:spcBef>
              <a:spcAft>
                <a:spcPts val="1200"/>
              </a:spcAft>
              <a:buNone/>
            </a:pPr>
            <a:r>
              <a:t/>
            </a:r>
            <a:endParaRPr>
              <a:solidFill>
                <a:schemeClr val="lt1"/>
              </a:solidFill>
              <a:highlight>
                <a:schemeClr val="dk1"/>
              </a:highlight>
            </a:endParaRPr>
          </a:p>
        </p:txBody>
      </p:sp>
      <p:pic>
        <p:nvPicPr>
          <p:cNvPr id="81" name="Google Shape;81;p16"/>
          <p:cNvPicPr preferRelativeResize="0"/>
          <p:nvPr/>
        </p:nvPicPr>
        <p:blipFill>
          <a:blip r:embed="rId4">
            <a:alphaModFix/>
          </a:blip>
          <a:stretch>
            <a:fillRect/>
          </a:stretch>
        </p:blipFill>
        <p:spPr>
          <a:xfrm>
            <a:off x="5954025" y="266755"/>
            <a:ext cx="3089526" cy="1698624"/>
          </a:xfrm>
          <a:prstGeom prst="rect">
            <a:avLst/>
          </a:prstGeom>
          <a:noFill/>
          <a:ln>
            <a:noFill/>
          </a:ln>
        </p:spPr>
      </p:pic>
      <p:sp>
        <p:nvSpPr>
          <p:cNvPr id="82" name="Google Shape;82;p16"/>
          <p:cNvSpPr txBox="1"/>
          <p:nvPr/>
        </p:nvSpPr>
        <p:spPr>
          <a:xfrm>
            <a:off x="5751750" y="2079150"/>
            <a:ext cx="3453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ighlight>
                  <a:schemeClr val="dk1"/>
                </a:highlight>
                <a:hlinkClick r:id="rId5"/>
              </a:rPr>
              <a:t>https://www.quytech.com/blog/top-use-cases-of-ai-agents/</a:t>
            </a:r>
            <a:endParaRPr sz="1000">
              <a:solidFill>
                <a:schemeClr val="dk2"/>
              </a:solidFill>
              <a:highlight>
                <a:schemeClr val="dk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highlight>
                  <a:schemeClr val="dk1"/>
                </a:highlight>
              </a:rPr>
              <a:t>Risks</a:t>
            </a:r>
            <a:endParaRPr>
              <a:solidFill>
                <a:schemeClr val="lt1"/>
              </a:solidFill>
              <a:highlight>
                <a:schemeClr val="dk1"/>
              </a:highlight>
            </a:endParaRPr>
          </a:p>
        </p:txBody>
      </p:sp>
      <p:sp>
        <p:nvSpPr>
          <p:cNvPr id="88" name="Google Shape;88;p17"/>
          <p:cNvSpPr txBox="1"/>
          <p:nvPr>
            <p:ph idx="1" type="body"/>
          </p:nvPr>
        </p:nvSpPr>
        <p:spPr>
          <a:xfrm>
            <a:off x="311700" y="2404750"/>
            <a:ext cx="8520600" cy="34164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0"/>
              </a:spcAft>
              <a:buNone/>
            </a:pPr>
            <a:r>
              <a:rPr lang="en" sz="2920">
                <a:solidFill>
                  <a:schemeClr val="lt1"/>
                </a:solidFill>
                <a:highlight>
                  <a:schemeClr val="dk1"/>
                </a:highlight>
              </a:rPr>
              <a:t>Some common risks involving the use of AI agents include:</a:t>
            </a:r>
            <a:endParaRPr sz="2920">
              <a:solidFill>
                <a:schemeClr val="lt1"/>
              </a:solidFill>
              <a:highlight>
                <a:schemeClr val="dk1"/>
              </a:highlight>
            </a:endParaRPr>
          </a:p>
          <a:p>
            <a:pPr indent="-309034" lvl="0" marL="457200" rtl="0" algn="l">
              <a:spcBef>
                <a:spcPts val="1200"/>
              </a:spcBef>
              <a:spcAft>
                <a:spcPts val="0"/>
              </a:spcAft>
              <a:buClr>
                <a:schemeClr val="lt1"/>
              </a:buClr>
              <a:buSzPct val="100000"/>
              <a:buChar char="●"/>
            </a:pPr>
            <a:r>
              <a:rPr b="1" lang="en" sz="2027">
                <a:solidFill>
                  <a:schemeClr val="lt1"/>
                </a:solidFill>
                <a:highlight>
                  <a:schemeClr val="dk1"/>
                </a:highlight>
              </a:rPr>
              <a:t>Goal misalignment</a:t>
            </a:r>
            <a:r>
              <a:rPr lang="en" sz="2027">
                <a:solidFill>
                  <a:schemeClr val="lt1"/>
                </a:solidFill>
                <a:highlight>
                  <a:schemeClr val="dk1"/>
                </a:highlight>
              </a:rPr>
              <a:t> — the agent may optimize for the wrong objective or misunderstand instructions</a:t>
            </a:r>
            <a:endParaRPr sz="2027">
              <a:solidFill>
                <a:schemeClr val="lt1"/>
              </a:solidFill>
              <a:highlight>
                <a:schemeClr val="dk1"/>
              </a:highlight>
            </a:endParaRPr>
          </a:p>
          <a:p>
            <a:pPr indent="-309034" lvl="0" marL="457200" rtl="0" algn="l">
              <a:spcBef>
                <a:spcPts val="0"/>
              </a:spcBef>
              <a:spcAft>
                <a:spcPts val="0"/>
              </a:spcAft>
              <a:buClr>
                <a:schemeClr val="lt1"/>
              </a:buClr>
              <a:buSzPct val="100000"/>
              <a:buChar char="●"/>
            </a:pPr>
            <a:r>
              <a:rPr b="1" lang="en" sz="2027">
                <a:solidFill>
                  <a:schemeClr val="lt1"/>
                </a:solidFill>
                <a:highlight>
                  <a:schemeClr val="dk1"/>
                </a:highlight>
              </a:rPr>
              <a:t>Unintended actions</a:t>
            </a:r>
            <a:r>
              <a:rPr lang="en" sz="2027">
                <a:solidFill>
                  <a:schemeClr val="lt1"/>
                </a:solidFill>
                <a:highlight>
                  <a:schemeClr val="dk1"/>
                </a:highlight>
              </a:rPr>
              <a:t> — it can take steps the user didn’t intend, especially when operating autonomously</a:t>
            </a:r>
            <a:endParaRPr sz="2027">
              <a:solidFill>
                <a:schemeClr val="lt1"/>
              </a:solidFill>
              <a:highlight>
                <a:schemeClr val="dk1"/>
              </a:highlight>
            </a:endParaRPr>
          </a:p>
          <a:p>
            <a:pPr indent="-309034" lvl="0" marL="457200" rtl="0" algn="l">
              <a:spcBef>
                <a:spcPts val="0"/>
              </a:spcBef>
              <a:spcAft>
                <a:spcPts val="0"/>
              </a:spcAft>
              <a:buClr>
                <a:schemeClr val="lt1"/>
              </a:buClr>
              <a:buSzPct val="100000"/>
              <a:buChar char="●"/>
            </a:pPr>
            <a:r>
              <a:rPr b="1" lang="en" sz="2027">
                <a:solidFill>
                  <a:schemeClr val="lt1"/>
                </a:solidFill>
                <a:highlight>
                  <a:schemeClr val="dk1"/>
                </a:highlight>
              </a:rPr>
              <a:t>Security risks</a:t>
            </a:r>
            <a:r>
              <a:rPr lang="en" sz="2027">
                <a:solidFill>
                  <a:schemeClr val="lt1"/>
                </a:solidFill>
                <a:highlight>
                  <a:schemeClr val="dk1"/>
                </a:highlight>
              </a:rPr>
              <a:t> — agents using tools, browsers, or APIs can be exploited through attacks like prompt injection</a:t>
            </a:r>
            <a:endParaRPr sz="2027">
              <a:solidFill>
                <a:schemeClr val="lt1"/>
              </a:solidFill>
              <a:highlight>
                <a:schemeClr val="dk1"/>
              </a:highlight>
            </a:endParaRPr>
          </a:p>
          <a:p>
            <a:pPr indent="-309034" lvl="0" marL="457200" rtl="0" algn="l">
              <a:spcBef>
                <a:spcPts val="0"/>
              </a:spcBef>
              <a:spcAft>
                <a:spcPts val="0"/>
              </a:spcAft>
              <a:buClr>
                <a:schemeClr val="lt1"/>
              </a:buClr>
              <a:buSzPct val="100000"/>
              <a:buChar char="●"/>
            </a:pPr>
            <a:r>
              <a:rPr b="1" lang="en" sz="2027">
                <a:solidFill>
                  <a:schemeClr val="lt1"/>
                </a:solidFill>
                <a:highlight>
                  <a:schemeClr val="dk1"/>
                </a:highlight>
              </a:rPr>
              <a:t>Privacy risks</a:t>
            </a:r>
            <a:r>
              <a:rPr lang="en" sz="2027">
                <a:solidFill>
                  <a:schemeClr val="lt1"/>
                </a:solidFill>
                <a:highlight>
                  <a:schemeClr val="dk1"/>
                </a:highlight>
              </a:rPr>
              <a:t> — access to personal or organizational data can lead to unintended exposure or misuse</a:t>
            </a:r>
            <a:endParaRPr sz="2027">
              <a:solidFill>
                <a:schemeClr val="lt1"/>
              </a:solidFill>
              <a:highlight>
                <a:schemeClr val="dk1"/>
              </a:highlight>
            </a:endParaRPr>
          </a:p>
          <a:p>
            <a:pPr indent="-309034" lvl="0" marL="457200" rtl="0" algn="l">
              <a:spcBef>
                <a:spcPts val="0"/>
              </a:spcBef>
              <a:spcAft>
                <a:spcPts val="0"/>
              </a:spcAft>
              <a:buClr>
                <a:schemeClr val="lt1"/>
              </a:buClr>
              <a:buSzPct val="100000"/>
              <a:buChar char="●"/>
            </a:pPr>
            <a:r>
              <a:rPr b="1" lang="en" sz="2027">
                <a:solidFill>
                  <a:schemeClr val="lt1"/>
                </a:solidFill>
                <a:highlight>
                  <a:schemeClr val="dk1"/>
                </a:highlight>
              </a:rPr>
              <a:t>Error compounding</a:t>
            </a:r>
            <a:r>
              <a:rPr lang="en" sz="2027">
                <a:solidFill>
                  <a:schemeClr val="lt1"/>
                </a:solidFill>
                <a:highlight>
                  <a:schemeClr val="dk1"/>
                </a:highlight>
              </a:rPr>
              <a:t> — small mistakes in early steps can cascade into larger failures across a multi-step task</a:t>
            </a:r>
            <a:endParaRPr sz="2027">
              <a:solidFill>
                <a:schemeClr val="lt1"/>
              </a:solidFill>
              <a:highlight>
                <a:schemeClr val="dk1"/>
              </a:highlight>
            </a:endParaRPr>
          </a:p>
          <a:p>
            <a:pPr indent="-309034" lvl="0" marL="457200" rtl="0" algn="l">
              <a:spcBef>
                <a:spcPts val="0"/>
              </a:spcBef>
              <a:spcAft>
                <a:spcPts val="0"/>
              </a:spcAft>
              <a:buClr>
                <a:schemeClr val="lt1"/>
              </a:buClr>
              <a:buSzPct val="100000"/>
              <a:buChar char="●"/>
            </a:pPr>
            <a:r>
              <a:rPr b="1" lang="en" sz="2027">
                <a:solidFill>
                  <a:schemeClr val="lt1"/>
                </a:solidFill>
                <a:highlight>
                  <a:schemeClr val="dk1"/>
                </a:highlight>
              </a:rPr>
              <a:t>Lack of transparency</a:t>
            </a:r>
            <a:r>
              <a:rPr lang="en" sz="2027">
                <a:solidFill>
                  <a:schemeClr val="lt1"/>
                </a:solidFill>
                <a:highlight>
                  <a:schemeClr val="dk1"/>
                </a:highlight>
              </a:rPr>
              <a:t> — it can be difficult to understand or verify why the agent made certain decisions</a:t>
            </a:r>
            <a:endParaRPr sz="2027">
              <a:solidFill>
                <a:schemeClr val="lt1"/>
              </a:solidFill>
              <a:highlight>
                <a:schemeClr val="dk1"/>
              </a:highlight>
            </a:endParaRPr>
          </a:p>
          <a:p>
            <a:pPr indent="0" lvl="0" marL="0" rtl="0" algn="l">
              <a:spcBef>
                <a:spcPts val="1200"/>
              </a:spcBef>
              <a:spcAft>
                <a:spcPts val="0"/>
              </a:spcAft>
              <a:buNone/>
            </a:pPr>
            <a:r>
              <a:t/>
            </a:r>
            <a:endParaRPr>
              <a:solidFill>
                <a:schemeClr val="lt1"/>
              </a:solidFill>
              <a:highlight>
                <a:schemeClr val="dk1"/>
              </a:highlight>
            </a:endParaRPr>
          </a:p>
          <a:p>
            <a:pPr indent="0" lvl="0" marL="0" rtl="0" algn="l">
              <a:spcBef>
                <a:spcPts val="1200"/>
              </a:spcBef>
              <a:spcAft>
                <a:spcPts val="1200"/>
              </a:spcAft>
              <a:buNone/>
            </a:pPr>
            <a:r>
              <a:t/>
            </a:r>
            <a:endParaRPr>
              <a:solidFill>
                <a:schemeClr val="lt1"/>
              </a:solidFill>
              <a:highlight>
                <a:schemeClr val="dk1"/>
              </a:highlight>
            </a:endParaRPr>
          </a:p>
        </p:txBody>
      </p:sp>
      <p:pic>
        <p:nvPicPr>
          <p:cNvPr id="89" name="Google Shape;89;p17"/>
          <p:cNvPicPr preferRelativeResize="0"/>
          <p:nvPr/>
        </p:nvPicPr>
        <p:blipFill>
          <a:blip r:embed="rId4">
            <a:alphaModFix/>
          </a:blip>
          <a:stretch>
            <a:fillRect/>
          </a:stretch>
        </p:blipFill>
        <p:spPr>
          <a:xfrm>
            <a:off x="6407375" y="130352"/>
            <a:ext cx="2424925" cy="1362126"/>
          </a:xfrm>
          <a:prstGeom prst="rect">
            <a:avLst/>
          </a:prstGeom>
          <a:noFill/>
          <a:ln>
            <a:noFill/>
          </a:ln>
        </p:spPr>
      </p:pic>
      <p:sp>
        <p:nvSpPr>
          <p:cNvPr id="90" name="Google Shape;90;p17"/>
          <p:cNvSpPr txBox="1"/>
          <p:nvPr/>
        </p:nvSpPr>
        <p:spPr>
          <a:xfrm>
            <a:off x="6271900" y="1492475"/>
            <a:ext cx="2794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u="sng">
                <a:solidFill>
                  <a:schemeClr val="hlink"/>
                </a:solidFill>
                <a:highlight>
                  <a:schemeClr val="dk1"/>
                </a:highlight>
                <a:hlinkClick r:id="rId5"/>
              </a:rPr>
              <a:t>https://www.linkedin.com/pulse/ai-agents-gone-wild-securing-new-frontier-autonomous-mischief-thakre-k7qcc</a:t>
            </a:r>
            <a:endParaRPr sz="1000">
              <a:solidFill>
                <a:schemeClr val="dk2"/>
              </a:solidFill>
              <a:highlight>
                <a:schemeClr val="dk1"/>
              </a:highlight>
            </a:endParaRPr>
          </a:p>
        </p:txBody>
      </p:sp>
      <p:pic>
        <p:nvPicPr>
          <p:cNvPr id="91" name="Google Shape;91;p17" title="low-quality-Screenshot 2026-05-24 160242.png"/>
          <p:cNvPicPr preferRelativeResize="0"/>
          <p:nvPr/>
        </p:nvPicPr>
        <p:blipFill>
          <a:blip r:embed="rId6">
            <a:alphaModFix/>
          </a:blip>
          <a:stretch>
            <a:fillRect/>
          </a:stretch>
        </p:blipFill>
        <p:spPr>
          <a:xfrm>
            <a:off x="3911975" y="230802"/>
            <a:ext cx="2424924" cy="1161227"/>
          </a:xfrm>
          <a:prstGeom prst="rect">
            <a:avLst/>
          </a:prstGeom>
          <a:noFill/>
          <a:ln>
            <a:noFill/>
          </a:ln>
        </p:spPr>
      </p:pic>
      <p:sp>
        <p:nvSpPr>
          <p:cNvPr id="92" name="Google Shape;92;p17"/>
          <p:cNvSpPr txBox="1"/>
          <p:nvPr/>
        </p:nvSpPr>
        <p:spPr>
          <a:xfrm>
            <a:off x="3663713" y="1492475"/>
            <a:ext cx="2794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u="sng">
                <a:solidFill>
                  <a:schemeClr val="hlink"/>
                </a:solidFill>
                <a:highlight>
                  <a:schemeClr val="dk1"/>
                </a:highlight>
                <a:hlinkClick r:id="rId7"/>
              </a:rPr>
              <a:t>https://moithub.com/</a:t>
            </a:r>
            <a:endParaRPr sz="1000">
              <a:solidFill>
                <a:schemeClr val="dk2"/>
              </a:solidFill>
              <a:highlight>
                <a:schemeClr val="dk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sp>
        <p:nvSpPr>
          <p:cNvPr id="97" name="Google Shape;97;p18"/>
          <p:cNvSpPr txBox="1"/>
          <p:nvPr>
            <p:ph type="title"/>
          </p:nvPr>
        </p:nvSpPr>
        <p:spPr>
          <a:xfrm>
            <a:off x="311700" y="351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highlight>
                  <a:schemeClr val="dk1"/>
                </a:highlight>
              </a:rPr>
              <a:t>How AI Agents Work</a:t>
            </a:r>
            <a:endParaRPr>
              <a:solidFill>
                <a:schemeClr val="lt1"/>
              </a:solidFill>
              <a:highlight>
                <a:schemeClr val="dk1"/>
              </a:highlight>
            </a:endParaRPr>
          </a:p>
        </p:txBody>
      </p:sp>
      <p:sp>
        <p:nvSpPr>
          <p:cNvPr id="98" name="Google Shape;98;p18"/>
          <p:cNvSpPr txBox="1"/>
          <p:nvPr>
            <p:ph idx="1" type="body"/>
          </p:nvPr>
        </p:nvSpPr>
        <p:spPr>
          <a:xfrm>
            <a:off x="311700" y="1032200"/>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 sz="6150">
                <a:solidFill>
                  <a:schemeClr val="lt1"/>
                </a:solidFill>
                <a:highlight>
                  <a:schemeClr val="dk1"/>
                </a:highlight>
              </a:rPr>
              <a:t>Understand</a:t>
            </a:r>
            <a:endParaRPr b="1" sz="6150">
              <a:solidFill>
                <a:schemeClr val="lt1"/>
              </a:solidFill>
              <a:highlight>
                <a:schemeClr val="dk1"/>
              </a:highlight>
            </a:endParaRPr>
          </a:p>
          <a:p>
            <a:pPr indent="-326231" lvl="0" marL="457200" rtl="0" algn="l">
              <a:spcBef>
                <a:spcPts val="1200"/>
              </a:spcBef>
              <a:spcAft>
                <a:spcPts val="0"/>
              </a:spcAft>
              <a:buClr>
                <a:schemeClr val="lt1"/>
              </a:buClr>
              <a:buSzPct val="100000"/>
              <a:buChar char="●"/>
            </a:pPr>
            <a:r>
              <a:rPr lang="en" sz="6150">
                <a:solidFill>
                  <a:schemeClr val="lt1"/>
                </a:solidFill>
                <a:highlight>
                  <a:schemeClr val="dk1"/>
                </a:highlight>
              </a:rPr>
              <a:t>Receives user goals or inputs</a:t>
            </a:r>
            <a:endParaRPr sz="6150">
              <a:solidFill>
                <a:schemeClr val="lt1"/>
              </a:solidFill>
              <a:highlight>
                <a:schemeClr val="dk1"/>
              </a:highlight>
            </a:endParaRPr>
          </a:p>
          <a:p>
            <a:pPr indent="-326231" lvl="0" marL="457200" rtl="0" algn="l">
              <a:spcBef>
                <a:spcPts val="0"/>
              </a:spcBef>
              <a:spcAft>
                <a:spcPts val="0"/>
              </a:spcAft>
              <a:buClr>
                <a:schemeClr val="lt1"/>
              </a:buClr>
              <a:buSzPct val="100000"/>
              <a:buChar char="●"/>
            </a:pPr>
            <a:r>
              <a:rPr lang="en" sz="6150">
                <a:solidFill>
                  <a:schemeClr val="lt1"/>
                </a:solidFill>
                <a:highlight>
                  <a:schemeClr val="dk1"/>
                </a:highlight>
              </a:rPr>
              <a:t>Interprets requests using AI models</a:t>
            </a:r>
            <a:endParaRPr sz="6150">
              <a:solidFill>
                <a:schemeClr val="lt1"/>
              </a:solidFill>
              <a:highlight>
                <a:schemeClr val="dk1"/>
              </a:highlight>
            </a:endParaRPr>
          </a:p>
          <a:p>
            <a:pPr indent="0" lvl="0" marL="0" rtl="0" algn="l">
              <a:spcBef>
                <a:spcPts val="1200"/>
              </a:spcBef>
              <a:spcAft>
                <a:spcPts val="0"/>
              </a:spcAft>
              <a:buNone/>
            </a:pPr>
            <a:r>
              <a:rPr b="1" lang="en" sz="6150">
                <a:solidFill>
                  <a:schemeClr val="lt1"/>
                </a:solidFill>
                <a:highlight>
                  <a:schemeClr val="dk1"/>
                </a:highlight>
              </a:rPr>
              <a:t>Plan</a:t>
            </a:r>
            <a:endParaRPr b="1" sz="6150">
              <a:solidFill>
                <a:schemeClr val="lt1"/>
              </a:solidFill>
              <a:highlight>
                <a:schemeClr val="dk1"/>
              </a:highlight>
            </a:endParaRPr>
          </a:p>
          <a:p>
            <a:pPr indent="-326231" lvl="0" marL="457200" rtl="0" algn="l">
              <a:spcBef>
                <a:spcPts val="1200"/>
              </a:spcBef>
              <a:spcAft>
                <a:spcPts val="0"/>
              </a:spcAft>
              <a:buClr>
                <a:schemeClr val="lt1"/>
              </a:buClr>
              <a:buSzPct val="100000"/>
              <a:buChar char="●"/>
            </a:pPr>
            <a:r>
              <a:rPr lang="en" sz="6150">
                <a:solidFill>
                  <a:schemeClr val="lt1"/>
                </a:solidFill>
                <a:highlight>
                  <a:schemeClr val="dk1"/>
                </a:highlight>
              </a:rPr>
              <a:t>Breaks tasks into steps</a:t>
            </a:r>
            <a:endParaRPr sz="6150">
              <a:solidFill>
                <a:schemeClr val="lt1"/>
              </a:solidFill>
              <a:highlight>
                <a:schemeClr val="dk1"/>
              </a:highlight>
            </a:endParaRPr>
          </a:p>
          <a:p>
            <a:pPr indent="-326231" lvl="0" marL="457200" rtl="0" algn="l">
              <a:spcBef>
                <a:spcPts val="0"/>
              </a:spcBef>
              <a:spcAft>
                <a:spcPts val="0"/>
              </a:spcAft>
              <a:buClr>
                <a:schemeClr val="lt1"/>
              </a:buClr>
              <a:buSzPct val="100000"/>
              <a:buChar char="●"/>
            </a:pPr>
            <a:r>
              <a:rPr lang="en" sz="6150">
                <a:solidFill>
                  <a:schemeClr val="lt1"/>
                </a:solidFill>
                <a:highlight>
                  <a:schemeClr val="dk1"/>
                </a:highlight>
              </a:rPr>
              <a:t>Chooses tools and strategies</a:t>
            </a:r>
            <a:endParaRPr sz="6150">
              <a:solidFill>
                <a:schemeClr val="lt1"/>
              </a:solidFill>
              <a:highlight>
                <a:schemeClr val="dk1"/>
              </a:highlight>
            </a:endParaRPr>
          </a:p>
          <a:p>
            <a:pPr indent="0" lvl="0" marL="0" rtl="0" algn="l">
              <a:spcBef>
                <a:spcPts val="1200"/>
              </a:spcBef>
              <a:spcAft>
                <a:spcPts val="0"/>
              </a:spcAft>
              <a:buNone/>
            </a:pPr>
            <a:r>
              <a:rPr b="1" lang="en" sz="6150">
                <a:solidFill>
                  <a:schemeClr val="lt1"/>
                </a:solidFill>
                <a:highlight>
                  <a:schemeClr val="dk1"/>
                </a:highlight>
              </a:rPr>
              <a:t>Act</a:t>
            </a:r>
            <a:endParaRPr b="1" sz="6150">
              <a:solidFill>
                <a:schemeClr val="lt1"/>
              </a:solidFill>
              <a:highlight>
                <a:schemeClr val="dk1"/>
              </a:highlight>
            </a:endParaRPr>
          </a:p>
          <a:p>
            <a:pPr indent="-326231" lvl="0" marL="457200" rtl="0" algn="l">
              <a:spcBef>
                <a:spcPts val="1200"/>
              </a:spcBef>
              <a:spcAft>
                <a:spcPts val="0"/>
              </a:spcAft>
              <a:buClr>
                <a:schemeClr val="lt1"/>
              </a:buClr>
              <a:buSzPct val="100000"/>
              <a:buChar char="●"/>
            </a:pPr>
            <a:r>
              <a:rPr lang="en" sz="6150">
                <a:solidFill>
                  <a:schemeClr val="lt1"/>
                </a:solidFill>
                <a:highlight>
                  <a:schemeClr val="dk1"/>
                </a:highlight>
              </a:rPr>
              <a:t>Uses APIs, web tools, databases, software</a:t>
            </a:r>
            <a:endParaRPr sz="6150">
              <a:solidFill>
                <a:schemeClr val="lt1"/>
              </a:solidFill>
              <a:highlight>
                <a:schemeClr val="dk1"/>
              </a:highlight>
            </a:endParaRPr>
          </a:p>
          <a:p>
            <a:pPr indent="-326231" lvl="0" marL="457200" rtl="0" algn="l">
              <a:spcBef>
                <a:spcPts val="0"/>
              </a:spcBef>
              <a:spcAft>
                <a:spcPts val="0"/>
              </a:spcAft>
              <a:buClr>
                <a:schemeClr val="lt1"/>
              </a:buClr>
              <a:buSzPct val="100000"/>
              <a:buChar char="●"/>
            </a:pPr>
            <a:r>
              <a:rPr lang="en" sz="6150">
                <a:solidFill>
                  <a:schemeClr val="lt1"/>
                </a:solidFill>
                <a:highlight>
                  <a:schemeClr val="dk1"/>
                </a:highlight>
              </a:rPr>
              <a:t>Performs tasks autonomously</a:t>
            </a:r>
            <a:endParaRPr sz="6150">
              <a:solidFill>
                <a:schemeClr val="lt1"/>
              </a:solidFill>
              <a:highlight>
                <a:schemeClr val="dk1"/>
              </a:highlight>
            </a:endParaRPr>
          </a:p>
          <a:p>
            <a:pPr indent="0" lvl="0" marL="0" rtl="0" algn="l">
              <a:spcBef>
                <a:spcPts val="1200"/>
              </a:spcBef>
              <a:spcAft>
                <a:spcPts val="0"/>
              </a:spcAft>
              <a:buNone/>
            </a:pPr>
            <a:r>
              <a:rPr b="1" lang="en" sz="6150">
                <a:solidFill>
                  <a:schemeClr val="lt1"/>
                </a:solidFill>
                <a:highlight>
                  <a:schemeClr val="dk1"/>
                </a:highlight>
              </a:rPr>
              <a:t>Learn &amp; Adapt</a:t>
            </a:r>
            <a:endParaRPr b="1" sz="6150">
              <a:solidFill>
                <a:schemeClr val="lt1"/>
              </a:solidFill>
              <a:highlight>
                <a:schemeClr val="dk1"/>
              </a:highlight>
            </a:endParaRPr>
          </a:p>
          <a:p>
            <a:pPr indent="-326231" lvl="0" marL="457200" rtl="0" algn="l">
              <a:spcBef>
                <a:spcPts val="1200"/>
              </a:spcBef>
              <a:spcAft>
                <a:spcPts val="0"/>
              </a:spcAft>
              <a:buClr>
                <a:schemeClr val="lt1"/>
              </a:buClr>
              <a:buSzPct val="100000"/>
              <a:buChar char="●"/>
            </a:pPr>
            <a:r>
              <a:rPr lang="en" sz="6150">
                <a:solidFill>
                  <a:schemeClr val="lt1"/>
                </a:solidFill>
                <a:highlight>
                  <a:schemeClr val="dk1"/>
                </a:highlight>
              </a:rPr>
              <a:t>Evaluates results</a:t>
            </a:r>
            <a:endParaRPr sz="6150">
              <a:solidFill>
                <a:schemeClr val="lt1"/>
              </a:solidFill>
              <a:highlight>
                <a:schemeClr val="dk1"/>
              </a:highlight>
            </a:endParaRPr>
          </a:p>
          <a:p>
            <a:pPr indent="-326231" lvl="0" marL="457200" rtl="0" algn="l">
              <a:spcBef>
                <a:spcPts val="0"/>
              </a:spcBef>
              <a:spcAft>
                <a:spcPts val="0"/>
              </a:spcAft>
              <a:buClr>
                <a:schemeClr val="lt1"/>
              </a:buClr>
              <a:buSzPct val="100000"/>
              <a:buChar char="●"/>
            </a:pPr>
            <a:r>
              <a:rPr lang="en" sz="6150">
                <a:solidFill>
                  <a:schemeClr val="lt1"/>
                </a:solidFill>
                <a:highlight>
                  <a:schemeClr val="dk1"/>
                </a:highlight>
              </a:rPr>
              <a:t>Adjusts actions if needed</a:t>
            </a:r>
            <a:endParaRPr sz="6150">
              <a:solidFill>
                <a:schemeClr val="lt1"/>
              </a:solidFill>
              <a:highlight>
                <a:schemeClr val="dk1"/>
              </a:highlight>
            </a:endParaRPr>
          </a:p>
          <a:p>
            <a:pPr indent="0" lvl="0" marL="0" rtl="0" algn="l">
              <a:spcBef>
                <a:spcPts val="1200"/>
              </a:spcBef>
              <a:spcAft>
                <a:spcPts val="1200"/>
              </a:spcAft>
              <a:buNone/>
            </a:pPr>
            <a:r>
              <a:t/>
            </a:r>
            <a:endParaRPr>
              <a:solidFill>
                <a:schemeClr val="lt1"/>
              </a:solidFill>
              <a:highlight>
                <a:schemeClr val="dk1"/>
              </a:highlight>
            </a:endParaRPr>
          </a:p>
        </p:txBody>
      </p:sp>
      <p:pic>
        <p:nvPicPr>
          <p:cNvPr id="99" name="Google Shape;99;p18"/>
          <p:cNvPicPr preferRelativeResize="0"/>
          <p:nvPr/>
        </p:nvPicPr>
        <p:blipFill>
          <a:blip r:embed="rId4">
            <a:alphaModFix/>
          </a:blip>
          <a:stretch>
            <a:fillRect/>
          </a:stretch>
        </p:blipFill>
        <p:spPr>
          <a:xfrm>
            <a:off x="6398502" y="445033"/>
            <a:ext cx="2433802" cy="1302451"/>
          </a:xfrm>
          <a:prstGeom prst="rect">
            <a:avLst/>
          </a:prstGeom>
          <a:noFill/>
          <a:ln>
            <a:noFill/>
          </a:ln>
        </p:spPr>
      </p:pic>
      <p:sp>
        <p:nvSpPr>
          <p:cNvPr id="100" name="Google Shape;100;p18"/>
          <p:cNvSpPr txBox="1"/>
          <p:nvPr/>
        </p:nvSpPr>
        <p:spPr>
          <a:xfrm>
            <a:off x="6253500" y="1845000"/>
            <a:ext cx="289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ighlight>
                  <a:schemeClr val="dk1"/>
                </a:highlight>
                <a:hlinkClick r:id="rId5"/>
              </a:rPr>
              <a:t>https://dev.arcxp.com/blog/exploring-ai-agents/</a:t>
            </a:r>
            <a:endParaRPr sz="1000">
              <a:solidFill>
                <a:schemeClr val="lt1"/>
              </a:solidFill>
              <a:highlight>
                <a:schemeClr val="dk1"/>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highlight>
                  <a:schemeClr val="dk1"/>
                </a:highlight>
              </a:rPr>
              <a:t>The Future of AI Agents</a:t>
            </a:r>
            <a:endParaRPr>
              <a:solidFill>
                <a:schemeClr val="lt1"/>
              </a:solidFill>
              <a:highlight>
                <a:schemeClr val="dk1"/>
              </a:highlight>
            </a:endParaRPr>
          </a:p>
        </p:txBody>
      </p:sp>
      <p:sp>
        <p:nvSpPr>
          <p:cNvPr id="106" name="Google Shape;106;p19"/>
          <p:cNvSpPr txBox="1"/>
          <p:nvPr>
            <p:ph idx="1" type="body"/>
          </p:nvPr>
        </p:nvSpPr>
        <p:spPr>
          <a:xfrm>
            <a:off x="5028900" y="3252300"/>
            <a:ext cx="4240200" cy="769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000" u="sng">
                <a:solidFill>
                  <a:schemeClr val="accent5"/>
                </a:solidFill>
                <a:highlight>
                  <a:schemeClr val="dk1"/>
                </a:highlight>
                <a:hlinkClick r:id="rId4">
                  <a:extLst>
                    <a:ext uri="{A12FA001-AC4F-418D-AE19-62706E023703}">
                      <ahyp:hlinkClr val="tx"/>
                    </a:ext>
                  </a:extLst>
                </a:hlinkClick>
              </a:rPr>
              <a:t>https://www.understandingai.org/p/16-charts-that-explain-the-ai-boom</a:t>
            </a:r>
            <a:endParaRPr sz="1000">
              <a:solidFill>
                <a:schemeClr val="lt1"/>
              </a:solidFill>
              <a:highlight>
                <a:schemeClr val="dk1"/>
              </a:highlight>
            </a:endParaRPr>
          </a:p>
        </p:txBody>
      </p:sp>
      <p:pic>
        <p:nvPicPr>
          <p:cNvPr id="107" name="Google Shape;107;p19"/>
          <p:cNvPicPr preferRelativeResize="0"/>
          <p:nvPr/>
        </p:nvPicPr>
        <p:blipFill>
          <a:blip r:embed="rId5">
            <a:alphaModFix/>
          </a:blip>
          <a:stretch>
            <a:fillRect/>
          </a:stretch>
        </p:blipFill>
        <p:spPr>
          <a:xfrm>
            <a:off x="5272375" y="445025"/>
            <a:ext cx="3675499" cy="2756599"/>
          </a:xfrm>
          <a:prstGeom prst="rect">
            <a:avLst/>
          </a:prstGeom>
          <a:noFill/>
          <a:ln>
            <a:noFill/>
          </a:ln>
        </p:spPr>
      </p:pic>
      <p:sp>
        <p:nvSpPr>
          <p:cNvPr id="108" name="Google Shape;108;p19"/>
          <p:cNvSpPr txBox="1"/>
          <p:nvPr/>
        </p:nvSpPr>
        <p:spPr>
          <a:xfrm>
            <a:off x="311700" y="1017725"/>
            <a:ext cx="47172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highlight>
                  <a:schemeClr val="dk1"/>
                </a:highlight>
              </a:rPr>
              <a:t>AI agents are rapidly evolving into autonomous systems that can reason, make decisions, and complete complex tasks with minimal human input. As companies and governments heavily invest billions into AI infrastructure and innovation, AI agents are expected to transform industries by improving productivity, automation, and decision-making at scale. </a:t>
            </a:r>
            <a:endParaRPr sz="1600">
              <a:solidFill>
                <a:schemeClr val="lt1"/>
              </a:solidFill>
              <a:highlight>
                <a:schemeClr val="dk1"/>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 name="Shape 112"/>
        <p:cNvGrpSpPr/>
        <p:nvPr/>
      </p:nvGrpSpPr>
      <p:grpSpPr>
        <a:xfrm>
          <a:off x="0" y="0"/>
          <a:ext cx="0" cy="0"/>
          <a:chOff x="0" y="0"/>
          <a:chExt cx="0" cy="0"/>
        </a:xfrm>
      </p:grpSpPr>
      <p:sp>
        <p:nvSpPr>
          <p:cNvPr id="113" name="Google Shape;113;p20"/>
          <p:cNvSpPr txBox="1"/>
          <p:nvPr>
            <p:ph idx="1" type="body"/>
          </p:nvPr>
        </p:nvSpPr>
        <p:spPr>
          <a:xfrm>
            <a:off x="311700" y="31390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lt1"/>
                </a:solidFill>
                <a:highlight>
                  <a:schemeClr val="dk1"/>
                </a:highlight>
              </a:rPr>
              <a:t>AI agents can greatly improve productivity by automating complex, multi-step tasks and reducing the need for constant human input. However, because they can act autonomously and use external tools, they also introduce risks around accuracy, security, and control. As a result, they are most effective when used with clear goals, proper safeguards, and human oversight where needed. </a:t>
            </a:r>
            <a:endParaRPr>
              <a:solidFill>
                <a:schemeClr val="lt1"/>
              </a:solidFill>
              <a:highlight>
                <a:schemeClr val="dk1"/>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920">
                <a:solidFill>
                  <a:schemeClr val="lt1"/>
                </a:solidFill>
                <a:highlight>
                  <a:schemeClr val="dk1"/>
                </a:highlight>
              </a:rPr>
              <a:t>Sources</a:t>
            </a:r>
            <a:endParaRPr b="1" sz="2920">
              <a:solidFill>
                <a:schemeClr val="lt1"/>
              </a:solidFill>
              <a:highlight>
                <a:schemeClr val="dk1"/>
              </a:highlight>
            </a:endParaRPr>
          </a:p>
        </p:txBody>
      </p:sp>
      <p:sp>
        <p:nvSpPr>
          <p:cNvPr id="119" name="Google Shape;119;p21"/>
          <p:cNvSpPr txBox="1"/>
          <p:nvPr>
            <p:ph idx="1" type="body"/>
          </p:nvPr>
        </p:nvSpPr>
        <p:spPr>
          <a:xfrm>
            <a:off x="311700" y="1138925"/>
            <a:ext cx="8520600" cy="34164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4"/>
              </a:rPr>
              <a:t>https://en.wikipedia.org/wiki/AI_agent</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5"/>
              </a:rPr>
              <a:t>https://www.ibm.com/think/topics/ai-agents</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6"/>
              </a:rPr>
              <a:t>https://cloud.google.com/discover/what-are-ai-agents</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7"/>
              </a:rPr>
              <a:t>https://aws.amazon.com/what-is/ai-agents/</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8"/>
              </a:rPr>
              <a:t>https://www.bcg.com/capabilities/artificial-intelligence/ai-agents</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9"/>
              </a:rPr>
              <a:t>https://www.microsoft.com/en-us/microsoft-copilot/copilot-101/ai-agents-types-and-uses</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10"/>
              </a:rPr>
              <a:t>https://www.lindy.ai/blog/best-ai-agents</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11"/>
              </a:rPr>
              <a:t>https://www.understandingai.org/p/16-charts-that-explain-the-ai-boom</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12"/>
              </a:rPr>
              <a:t>https://www.quytech.com/blog/top-use-cases-of-ai-agents/</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13"/>
              </a:rPr>
              <a:t>https://moithub.com/</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14"/>
              </a:rPr>
              <a:t>https://www.linkedin.com/pulse/ai-agents-gone-wild-securing-new-frontier-autonomous-mischief-thakre-k7qcc</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15"/>
              </a:rPr>
              <a:t>https://dev.arcxp.com/blog/exploring-ai-agents/</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16"/>
              </a:rPr>
              <a:t>https://www.youtube.com/watch?v=AJpK3YTTKZ4</a:t>
            </a:r>
            <a:endParaRPr>
              <a:solidFill>
                <a:schemeClr val="lt1"/>
              </a:solidFill>
              <a:highlight>
                <a:schemeClr val="dk1"/>
              </a:highlight>
            </a:endParaRPr>
          </a:p>
          <a:p>
            <a:pPr indent="-308610" lvl="0" marL="457200" rtl="0" algn="l">
              <a:spcBef>
                <a:spcPts val="0"/>
              </a:spcBef>
              <a:spcAft>
                <a:spcPts val="0"/>
              </a:spcAft>
              <a:buClr>
                <a:schemeClr val="lt1"/>
              </a:buClr>
              <a:buSzPct val="100000"/>
              <a:buChar char="●"/>
            </a:pPr>
            <a:r>
              <a:rPr lang="en" u="sng">
                <a:solidFill>
                  <a:schemeClr val="hlink"/>
                </a:solidFill>
                <a:highlight>
                  <a:schemeClr val="dk1"/>
                </a:highlight>
                <a:hlinkClick r:id="rId17"/>
              </a:rPr>
              <a:t>https://www.youtube.com/watch?v=K27diMbCsuw</a:t>
            </a:r>
            <a:endParaRPr>
              <a:solidFill>
                <a:schemeClr val="lt1"/>
              </a:solidFill>
              <a:highlight>
                <a:schemeClr val="dk1"/>
              </a:highlight>
            </a:endParaRPr>
          </a:p>
          <a:p>
            <a:pPr indent="0" lvl="0" marL="457200" rtl="0" algn="l">
              <a:spcBef>
                <a:spcPts val="1200"/>
              </a:spcBef>
              <a:spcAft>
                <a:spcPts val="1200"/>
              </a:spcAft>
              <a:buNone/>
            </a:pPr>
            <a:r>
              <a:t/>
            </a:r>
            <a:endParaRPr>
              <a:solidFill>
                <a:schemeClr val="lt1"/>
              </a:solidFill>
              <a:highlight>
                <a:schemeClr val="dk1"/>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